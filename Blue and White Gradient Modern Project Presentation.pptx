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Telegraf Bold" charset="1" panose="00000800000000000000"/>
      <p:regular r:id="rId18"/>
    </p:embeddedFont>
    <p:embeddedFont>
      <p:font typeface="Telegraf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07862">
            <a:off x="6110388" y="5304279"/>
            <a:ext cx="15048401" cy="6376760"/>
          </a:xfrm>
          <a:custGeom>
            <a:avLst/>
            <a:gdLst/>
            <a:ahLst/>
            <a:cxnLst/>
            <a:rect r="r" b="b" t="t" l="l"/>
            <a:pathLst>
              <a:path h="6376760" w="15048401">
                <a:moveTo>
                  <a:pt x="0" y="0"/>
                </a:moveTo>
                <a:lnTo>
                  <a:pt x="15048401" y="0"/>
                </a:lnTo>
                <a:lnTo>
                  <a:pt x="15048401" y="6376760"/>
                </a:lnTo>
                <a:lnTo>
                  <a:pt x="0" y="63767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32478" y="7009521"/>
            <a:ext cx="9637365" cy="212578"/>
            <a:chOff x="0" y="0"/>
            <a:chExt cx="2538236" cy="559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38236" cy="55988"/>
            </a:xfrm>
            <a:custGeom>
              <a:avLst/>
              <a:gdLst/>
              <a:ahLst/>
              <a:cxnLst/>
              <a:rect r="r" b="b" t="t" l="l"/>
              <a:pathLst>
                <a:path h="55988" w="2538236">
                  <a:moveTo>
                    <a:pt x="0" y="0"/>
                  </a:moveTo>
                  <a:lnTo>
                    <a:pt x="2538236" y="0"/>
                  </a:lnTo>
                  <a:lnTo>
                    <a:pt x="2538236" y="55988"/>
                  </a:lnTo>
                  <a:lnTo>
                    <a:pt x="0" y="55988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2538236" cy="1131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true" rot="0">
            <a:off x="-641393" y="-1165054"/>
            <a:ext cx="6732105" cy="4030848"/>
          </a:xfrm>
          <a:custGeom>
            <a:avLst/>
            <a:gdLst/>
            <a:ahLst/>
            <a:cxnLst/>
            <a:rect r="r" b="b" t="t" l="l"/>
            <a:pathLst>
              <a:path h="4030848" w="6732105">
                <a:moveTo>
                  <a:pt x="0" y="4030848"/>
                </a:moveTo>
                <a:lnTo>
                  <a:pt x="6732105" y="4030848"/>
                </a:lnTo>
                <a:lnTo>
                  <a:pt x="6732105" y="0"/>
                </a:lnTo>
                <a:lnTo>
                  <a:pt x="0" y="0"/>
                </a:lnTo>
                <a:lnTo>
                  <a:pt x="0" y="4030848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26343" y="4556149"/>
            <a:ext cx="12516094" cy="1463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b="true" sz="8000" spc="40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WEB PROGRAMMING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6343" y="5848373"/>
            <a:ext cx="15123378" cy="1019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 spc="61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TOKEN MANAGEMENT SYSTEM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575566"/>
            <a:ext cx="2554023" cy="46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12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Presented By: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761206" y="7575566"/>
            <a:ext cx="3928552" cy="265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12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SHWETHIN</a:t>
            </a:r>
          </a:p>
          <a:p>
            <a:pPr algn="l">
              <a:lnSpc>
                <a:spcPts val="3499"/>
              </a:lnSpc>
            </a:pPr>
            <a:r>
              <a:rPr lang="en-US" sz="2499" spc="12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TEJASSH</a:t>
            </a:r>
          </a:p>
          <a:p>
            <a:pPr algn="l">
              <a:lnSpc>
                <a:spcPts val="3499"/>
              </a:lnSpc>
            </a:pPr>
            <a:r>
              <a:rPr lang="en-US" sz="2499" spc="12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STEVE IPE</a:t>
            </a:r>
          </a:p>
          <a:p>
            <a:pPr algn="l">
              <a:lnSpc>
                <a:spcPts val="3499"/>
              </a:lnSpc>
            </a:pPr>
            <a:r>
              <a:rPr lang="en-US" sz="2499" spc="12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NIKHIL STALIN</a:t>
            </a:r>
          </a:p>
          <a:p>
            <a:pPr algn="l">
              <a:lnSpc>
                <a:spcPts val="3499"/>
              </a:lnSpc>
            </a:pPr>
            <a:r>
              <a:rPr lang="en-US" sz="2499" spc="12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NOEL DENNY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12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TALAHA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84366" y="-1968064"/>
            <a:ext cx="12760102" cy="5407093"/>
          </a:xfrm>
          <a:custGeom>
            <a:avLst/>
            <a:gdLst/>
            <a:ahLst/>
            <a:cxnLst/>
            <a:rect r="r" b="b" t="t" l="l"/>
            <a:pathLst>
              <a:path h="5407093" w="12760102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08865" y="-392510"/>
            <a:ext cx="7501837" cy="11072020"/>
            <a:chOff x="0" y="0"/>
            <a:chExt cx="1975792" cy="29160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5793" cy="2916088"/>
            </a:xfrm>
            <a:custGeom>
              <a:avLst/>
              <a:gdLst/>
              <a:ahLst/>
              <a:cxnLst/>
              <a:rect r="r" b="b" t="t" l="l"/>
              <a:pathLst>
                <a:path h="2916088" w="1975793">
                  <a:moveTo>
                    <a:pt x="0" y="0"/>
                  </a:moveTo>
                  <a:lnTo>
                    <a:pt x="1975793" y="0"/>
                  </a:lnTo>
                  <a:lnTo>
                    <a:pt x="1975793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975792" cy="2973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431877" y="6332344"/>
            <a:ext cx="12760102" cy="5407093"/>
          </a:xfrm>
          <a:custGeom>
            <a:avLst/>
            <a:gdLst/>
            <a:ahLst/>
            <a:cxnLst/>
            <a:rect r="r" b="b" t="t" l="l"/>
            <a:pathLst>
              <a:path h="5407093" w="12760102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159298" y="1559100"/>
            <a:ext cx="8403819" cy="2466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59"/>
              </a:lnSpc>
            </a:pPr>
            <a:r>
              <a:rPr lang="en-US" sz="9339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PROBLEM </a:t>
            </a:r>
          </a:p>
          <a:p>
            <a:pPr algn="l">
              <a:lnSpc>
                <a:spcPts val="9059"/>
              </a:lnSpc>
            </a:pPr>
            <a:r>
              <a:rPr lang="en-US" sz="9339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STATEMENT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988633" y="-146732"/>
            <a:ext cx="6026397" cy="482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b="true" sz="34507" spc="-2760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59298" y="5057775"/>
            <a:ext cx="8115300" cy="5123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spc="13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Traditional queue systems often involve:</a:t>
            </a:r>
          </a:p>
          <a:p>
            <a:pPr algn="l" marL="582927" indent="-291463" lvl="1">
              <a:lnSpc>
                <a:spcPts val="3779"/>
              </a:lnSpc>
              <a:buFont typeface="Arial"/>
              <a:buChar char="•"/>
            </a:pPr>
            <a:r>
              <a:rPr lang="en-US" sz="2699" spc="13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Manual registration and paper-based tokens</a:t>
            </a:r>
          </a:p>
          <a:p>
            <a:pPr algn="l" marL="582927" indent="-291463" lvl="1">
              <a:lnSpc>
                <a:spcPts val="3779"/>
              </a:lnSpc>
              <a:buFont typeface="Arial"/>
              <a:buChar char="•"/>
            </a:pPr>
            <a:r>
              <a:rPr lang="en-US" sz="2699" spc="13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Long physical waiting times</a:t>
            </a:r>
          </a:p>
          <a:p>
            <a:pPr algn="l" marL="582927" indent="-291463" lvl="1">
              <a:lnSpc>
                <a:spcPts val="3779"/>
              </a:lnSpc>
              <a:buFont typeface="Arial"/>
              <a:buChar char="•"/>
            </a:pPr>
            <a:r>
              <a:rPr lang="en-US" sz="2699" spc="13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Difficulty managing large queues</a:t>
            </a:r>
          </a:p>
          <a:p>
            <a:pPr algn="l" marL="582927" indent="-291463" lvl="1">
              <a:lnSpc>
                <a:spcPts val="3779"/>
              </a:lnSpc>
              <a:buFont typeface="Arial"/>
              <a:buChar char="•"/>
            </a:pPr>
            <a:r>
              <a:rPr lang="en-US" sz="2699" spc="13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Errors in token allocation</a:t>
            </a:r>
          </a:p>
          <a:p>
            <a:pPr algn="l" marL="582927" indent="-291463" lvl="1">
              <a:lnSpc>
                <a:spcPts val="3779"/>
              </a:lnSpc>
              <a:buFont typeface="Arial"/>
              <a:buChar char="•"/>
            </a:pPr>
            <a:r>
              <a:rPr lang="en-US" sz="2699" spc="13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Duplicate token numbers during simultaneous registrations</a:t>
            </a:r>
          </a:p>
          <a:p>
            <a:pPr algn="l" marL="582927" indent="-291463" lvl="1">
              <a:lnSpc>
                <a:spcPts val="3779"/>
              </a:lnSpc>
              <a:buFont typeface="Arial"/>
              <a:buChar char="•"/>
            </a:pPr>
            <a:r>
              <a:rPr lang="en-US" sz="2699" spc="13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No simple way for attendees to join remotely</a:t>
            </a:r>
          </a:p>
          <a:p>
            <a:pPr algn="l">
              <a:lnSpc>
                <a:spcPts val="26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14668" y="-3157079"/>
            <a:ext cx="15827806" cy="6707033"/>
          </a:xfrm>
          <a:custGeom>
            <a:avLst/>
            <a:gdLst/>
            <a:ahLst/>
            <a:cxnLst/>
            <a:rect r="r" b="b" t="t" l="l"/>
            <a:pathLst>
              <a:path h="6707033" w="15827806">
                <a:moveTo>
                  <a:pt x="0" y="0"/>
                </a:moveTo>
                <a:lnTo>
                  <a:pt x="15827806" y="0"/>
                </a:lnTo>
                <a:lnTo>
                  <a:pt x="15827806" y="6707033"/>
                </a:lnTo>
                <a:lnTo>
                  <a:pt x="0" y="67070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2120312">
            <a:off x="-2273262" y="8331539"/>
            <a:ext cx="12760102" cy="5407093"/>
          </a:xfrm>
          <a:custGeom>
            <a:avLst/>
            <a:gdLst/>
            <a:ahLst/>
            <a:cxnLst/>
            <a:rect r="r" b="b" t="t" l="l"/>
            <a:pathLst>
              <a:path h="5407093" w="12760102">
                <a:moveTo>
                  <a:pt x="12760102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2" y="5407093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408865" y="-392510"/>
            <a:ext cx="1437565" cy="11072020"/>
            <a:chOff x="0" y="0"/>
            <a:chExt cx="378618" cy="29160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8618" cy="2916088"/>
            </a:xfrm>
            <a:custGeom>
              <a:avLst/>
              <a:gdLst/>
              <a:ahLst/>
              <a:cxnLst/>
              <a:rect r="r" b="b" t="t" l="l"/>
              <a:pathLst>
                <a:path h="2916088" w="37861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378618" cy="2973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351945" y="3691521"/>
            <a:ext cx="6895551" cy="1521052"/>
            <a:chOff x="0" y="0"/>
            <a:chExt cx="1816112" cy="4006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16112" cy="400606"/>
            </a:xfrm>
            <a:custGeom>
              <a:avLst/>
              <a:gdLst/>
              <a:ahLst/>
              <a:cxnLst/>
              <a:rect r="r" b="b" t="t" l="l"/>
              <a:pathLst>
                <a:path h="400606" w="1816112">
                  <a:moveTo>
                    <a:pt x="0" y="0"/>
                  </a:moveTo>
                  <a:lnTo>
                    <a:pt x="1816112" y="0"/>
                  </a:lnTo>
                  <a:lnTo>
                    <a:pt x="1816112" y="400606"/>
                  </a:lnTo>
                  <a:lnTo>
                    <a:pt x="0" y="400606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816112" cy="4577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351945" y="5489893"/>
            <a:ext cx="6895551" cy="1521052"/>
            <a:chOff x="0" y="0"/>
            <a:chExt cx="1816112" cy="4006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16112" cy="400606"/>
            </a:xfrm>
            <a:custGeom>
              <a:avLst/>
              <a:gdLst/>
              <a:ahLst/>
              <a:cxnLst/>
              <a:rect r="r" b="b" t="t" l="l"/>
              <a:pathLst>
                <a:path h="400606" w="1816112">
                  <a:moveTo>
                    <a:pt x="0" y="0"/>
                  </a:moveTo>
                  <a:lnTo>
                    <a:pt x="1816112" y="0"/>
                  </a:lnTo>
                  <a:lnTo>
                    <a:pt x="1816112" y="400606"/>
                  </a:lnTo>
                  <a:lnTo>
                    <a:pt x="0" y="400606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816112" cy="4577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69338" y="1781004"/>
            <a:ext cx="9407130" cy="2466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59"/>
              </a:lnSpc>
            </a:pPr>
            <a:r>
              <a:rPr lang="en-US" sz="9339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PROPOSED</a:t>
            </a:r>
          </a:p>
          <a:p>
            <a:pPr algn="l">
              <a:lnSpc>
                <a:spcPts val="9059"/>
              </a:lnSpc>
            </a:pPr>
            <a:r>
              <a:rPr lang="en-US" sz="9339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SOLUTION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29423" y="-580405"/>
            <a:ext cx="7273548" cy="482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b="true" sz="34507" spc="-2760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02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69338" y="4434814"/>
            <a:ext cx="6081469" cy="1512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spc="10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QR BASED DIGITAL TOKEN SYSTEM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351945" y="3856417"/>
            <a:ext cx="1354994" cy="1019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spc="134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351945" y="5654789"/>
            <a:ext cx="1354994" cy="1019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spc="134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927406" y="4002149"/>
            <a:ext cx="4985712" cy="817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 spc="114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Organizer creates event → QR code is generated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927406" y="5775717"/>
            <a:ext cx="4985712" cy="817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 spc="114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Attendee scans QR → Enters name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351945" y="7288265"/>
            <a:ext cx="6895551" cy="1521052"/>
            <a:chOff x="0" y="0"/>
            <a:chExt cx="1816112" cy="40060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16112" cy="400606"/>
            </a:xfrm>
            <a:custGeom>
              <a:avLst/>
              <a:gdLst/>
              <a:ahLst/>
              <a:cxnLst/>
              <a:rect r="r" b="b" t="t" l="l"/>
              <a:pathLst>
                <a:path h="400606" w="1816112">
                  <a:moveTo>
                    <a:pt x="0" y="0"/>
                  </a:moveTo>
                  <a:lnTo>
                    <a:pt x="1816112" y="0"/>
                  </a:lnTo>
                  <a:lnTo>
                    <a:pt x="1816112" y="400606"/>
                  </a:lnTo>
                  <a:lnTo>
                    <a:pt x="0" y="400606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816112" cy="4577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351945" y="7453161"/>
            <a:ext cx="1354994" cy="1019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spc="134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03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927406" y="7567066"/>
            <a:ext cx="4985712" cy="791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spc="10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Receives unique token → Organizer manages queue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6562" y="0"/>
            <a:ext cx="18441813" cy="10293105"/>
          </a:xfrm>
          <a:custGeom>
            <a:avLst/>
            <a:gdLst/>
            <a:ahLst/>
            <a:cxnLst/>
            <a:rect r="r" b="b" t="t" l="l"/>
            <a:pathLst>
              <a:path h="10293105" w="18441813">
                <a:moveTo>
                  <a:pt x="0" y="0"/>
                </a:moveTo>
                <a:lnTo>
                  <a:pt x="18441813" y="0"/>
                </a:lnTo>
                <a:lnTo>
                  <a:pt x="18441813" y="10293105"/>
                </a:lnTo>
                <a:lnTo>
                  <a:pt x="0" y="102931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25008">
            <a:off x="-467361" y="-2757747"/>
            <a:ext cx="12701350" cy="5382197"/>
          </a:xfrm>
          <a:custGeom>
            <a:avLst/>
            <a:gdLst/>
            <a:ahLst/>
            <a:cxnLst/>
            <a:rect r="r" b="b" t="t" l="l"/>
            <a:pathLst>
              <a:path h="5382197" w="12701350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86204" y="6250419"/>
            <a:ext cx="11514218" cy="8506128"/>
          </a:xfrm>
          <a:custGeom>
            <a:avLst/>
            <a:gdLst/>
            <a:ahLst/>
            <a:cxnLst/>
            <a:rect r="r" b="b" t="t" l="l"/>
            <a:pathLst>
              <a:path h="8506128" w="11514218">
                <a:moveTo>
                  <a:pt x="0" y="0"/>
                </a:moveTo>
                <a:lnTo>
                  <a:pt x="11514218" y="0"/>
                </a:lnTo>
                <a:lnTo>
                  <a:pt x="11514218" y="8506128"/>
                </a:lnTo>
                <a:lnTo>
                  <a:pt x="0" y="85061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259300" y="-392510"/>
            <a:ext cx="1437565" cy="11072020"/>
            <a:chOff x="0" y="0"/>
            <a:chExt cx="378618" cy="29160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8618" cy="2916088"/>
            </a:xfrm>
            <a:custGeom>
              <a:avLst/>
              <a:gdLst/>
              <a:ahLst/>
              <a:cxnLst/>
              <a:rect r="r" b="b" t="t" l="l"/>
              <a:pathLst>
                <a:path h="2916088" w="37861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378618" cy="2973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041524" y="6795739"/>
            <a:ext cx="7273548" cy="482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b="true" sz="34507" spc="-2760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04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862029"/>
            <a:ext cx="13875066" cy="1317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59"/>
              </a:lnSpc>
            </a:pPr>
            <a:r>
              <a:rPr lang="en-US" sz="9339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TECHNOLOGIES USED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7521" y="2199609"/>
            <a:ext cx="13726245" cy="8249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spc="129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Frontend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129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Re</a:t>
            </a:r>
            <a:r>
              <a:rPr lang="en-US" sz="2599" spc="129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act.js — Component-based user interface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129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React Router — Page navigation and routing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129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Vite — Development and build tool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129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JavaScript — Application logic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129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localStorage — Stores JWT on the client</a:t>
            </a:r>
          </a:p>
          <a:p>
            <a:pPr algn="l">
              <a:lnSpc>
                <a:spcPts val="3639"/>
              </a:lnSpc>
            </a:pPr>
            <a:r>
              <a:rPr lang="en-US" sz="2599" spc="129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Backend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129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Node.js — Server-side JavaScript runtime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129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Express.js — REST API framework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129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Mongoose — MongoDB object modeling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129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bcryptjs — Password hashing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129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jsonwebtoken (JWT) — Authentication</a:t>
            </a:r>
          </a:p>
          <a:p>
            <a:pPr algn="l">
              <a:lnSpc>
                <a:spcPts val="3639"/>
              </a:lnSpc>
            </a:pPr>
            <a:r>
              <a:rPr lang="en-US" sz="2599" spc="129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Other Technologies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129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MongoDB — Database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129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CORS — Cross-origin communication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129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dotenv — Environment variables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129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mongodb-memory-server — Embedded database fallback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565348">
            <a:off x="-1362223" y="-2212276"/>
            <a:ext cx="10441422" cy="4424552"/>
          </a:xfrm>
          <a:custGeom>
            <a:avLst/>
            <a:gdLst/>
            <a:ahLst/>
            <a:cxnLst/>
            <a:rect r="r" b="b" t="t" l="l"/>
            <a:pathLst>
              <a:path h="4424552" w="10441422">
                <a:moveTo>
                  <a:pt x="10441421" y="0"/>
                </a:moveTo>
                <a:lnTo>
                  <a:pt x="0" y="0"/>
                </a:lnTo>
                <a:lnTo>
                  <a:pt x="0" y="4424552"/>
                </a:lnTo>
                <a:lnTo>
                  <a:pt x="10441421" y="4424552"/>
                </a:lnTo>
                <a:lnTo>
                  <a:pt x="10441421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8250927">
            <a:off x="5486162" y="7645079"/>
            <a:ext cx="7735476" cy="4631616"/>
          </a:xfrm>
          <a:custGeom>
            <a:avLst/>
            <a:gdLst/>
            <a:ahLst/>
            <a:cxnLst/>
            <a:rect r="r" b="b" t="t" l="l"/>
            <a:pathLst>
              <a:path h="4631616" w="7735476">
                <a:moveTo>
                  <a:pt x="0" y="0"/>
                </a:moveTo>
                <a:lnTo>
                  <a:pt x="7735475" y="0"/>
                </a:lnTo>
                <a:lnTo>
                  <a:pt x="7735475" y="4631616"/>
                </a:lnTo>
                <a:lnTo>
                  <a:pt x="0" y="4631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821802" y="4192649"/>
            <a:ext cx="7891417" cy="6257897"/>
            <a:chOff x="0" y="0"/>
            <a:chExt cx="2078398" cy="16481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8398" cy="1648170"/>
            </a:xfrm>
            <a:custGeom>
              <a:avLst/>
              <a:gdLst/>
              <a:ahLst/>
              <a:cxnLst/>
              <a:rect r="r" b="b" t="t" l="l"/>
              <a:pathLst>
                <a:path h="1648170" w="2078398">
                  <a:moveTo>
                    <a:pt x="0" y="0"/>
                  </a:moveTo>
                  <a:lnTo>
                    <a:pt x="2078398" y="0"/>
                  </a:lnTo>
                  <a:lnTo>
                    <a:pt x="2078398" y="1648170"/>
                  </a:lnTo>
                  <a:lnTo>
                    <a:pt x="0" y="1648170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078398" cy="17053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114668" y="6830598"/>
            <a:ext cx="7273548" cy="482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b="true" sz="34507" spc="-2760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05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574323"/>
            <a:ext cx="12055729" cy="2466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59"/>
              </a:lnSpc>
            </a:pPr>
            <a:r>
              <a:rPr lang="en-US" sz="9339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REACT </a:t>
            </a:r>
          </a:p>
          <a:p>
            <a:pPr algn="l">
              <a:lnSpc>
                <a:spcPts val="9059"/>
              </a:lnSpc>
            </a:pPr>
            <a:r>
              <a:rPr lang="en-US" sz="9339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IMPLEMENTATION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078605"/>
            <a:ext cx="9657424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spc="10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MAIN COMPONENTS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057775"/>
            <a:ext cx="7817645" cy="467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129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App.jsx — Defines application routes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129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Login.jsx — Organizer login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129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Register.jsx — Organizer registration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129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Dashboard.jsx — Displays organizer events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129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ManageEvent.jsx — Event and queue management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129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JoinEvent.jsx — Attendee token generation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129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storage.js — API communication and JWT handling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89023" y="-2170239"/>
            <a:ext cx="12760102" cy="5407093"/>
          </a:xfrm>
          <a:custGeom>
            <a:avLst/>
            <a:gdLst/>
            <a:ahLst/>
            <a:cxnLst/>
            <a:rect r="r" b="b" t="t" l="l"/>
            <a:pathLst>
              <a:path h="5407093" w="12760102">
                <a:moveTo>
                  <a:pt x="12760103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3" y="5407093"/>
                </a:lnTo>
                <a:lnTo>
                  <a:pt x="12760103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234591" y="-603888"/>
            <a:ext cx="6667753" cy="11072020"/>
            <a:chOff x="0" y="0"/>
            <a:chExt cx="1756116" cy="29160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56116" cy="2916088"/>
            </a:xfrm>
            <a:custGeom>
              <a:avLst/>
              <a:gdLst/>
              <a:ahLst/>
              <a:cxnLst/>
              <a:rect r="r" b="b" t="t" l="l"/>
              <a:pathLst>
                <a:path h="2916088" w="1756116">
                  <a:moveTo>
                    <a:pt x="0" y="0"/>
                  </a:moveTo>
                  <a:lnTo>
                    <a:pt x="1756116" y="0"/>
                  </a:lnTo>
                  <a:lnTo>
                    <a:pt x="1756116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756116" cy="2973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76404" y="5957570"/>
            <a:ext cx="9258096" cy="4123312"/>
          </a:xfrm>
          <a:custGeom>
            <a:avLst/>
            <a:gdLst/>
            <a:ahLst/>
            <a:cxnLst/>
            <a:rect r="r" b="b" t="t" l="l"/>
            <a:pathLst>
              <a:path h="4123312" w="9258096">
                <a:moveTo>
                  <a:pt x="0" y="0"/>
                </a:moveTo>
                <a:lnTo>
                  <a:pt x="9258096" y="0"/>
                </a:lnTo>
                <a:lnTo>
                  <a:pt x="9258096" y="4123312"/>
                </a:lnTo>
                <a:lnTo>
                  <a:pt x="0" y="41233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37038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951976" y="7212829"/>
            <a:ext cx="6026397" cy="482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b="true" sz="34507" spc="-2760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06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97085"/>
            <a:ext cx="7539495" cy="2040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41"/>
              </a:lnSpc>
            </a:pPr>
            <a:r>
              <a:rPr lang="en-US" sz="5300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NODE.JS &amp; EXPRESS.JS IMPLEMENTATION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901257"/>
            <a:ext cx="7539495" cy="57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spc="76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MAIN RESPONSIBILITIES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3479165"/>
            <a:ext cx="7815054" cy="166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 spc="8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Starts the Express server</a:t>
            </a:r>
          </a:p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 spc="8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Connects to the database</a:t>
            </a:r>
          </a:p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 spc="8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Configures CORS and JSON middleware</a:t>
            </a:r>
          </a:p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 spc="8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Mounts API routes</a:t>
            </a:r>
          </a:p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 spc="8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Provides /api/health endpoint</a:t>
            </a:r>
          </a:p>
          <a:p>
            <a:pPr algn="l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 spc="8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Handles database fallback modes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5334000"/>
            <a:ext cx="7539495" cy="57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spc="76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API ROUTES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89023" y="-2444319"/>
            <a:ext cx="12760102" cy="5407093"/>
          </a:xfrm>
          <a:custGeom>
            <a:avLst/>
            <a:gdLst/>
            <a:ahLst/>
            <a:cxnLst/>
            <a:rect r="r" b="b" t="t" l="l"/>
            <a:pathLst>
              <a:path h="5407093" w="12760102">
                <a:moveTo>
                  <a:pt x="12760103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3" y="5407093"/>
                </a:lnTo>
                <a:lnTo>
                  <a:pt x="12760103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786060" y="-392510"/>
            <a:ext cx="6667753" cy="11072020"/>
            <a:chOff x="0" y="0"/>
            <a:chExt cx="1756116" cy="29160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56116" cy="2916088"/>
            </a:xfrm>
            <a:custGeom>
              <a:avLst/>
              <a:gdLst/>
              <a:ahLst/>
              <a:cxnLst/>
              <a:rect r="r" b="b" t="t" l="l"/>
              <a:pathLst>
                <a:path h="2916088" w="1756116">
                  <a:moveTo>
                    <a:pt x="0" y="0"/>
                  </a:moveTo>
                  <a:lnTo>
                    <a:pt x="1756116" y="0"/>
                  </a:lnTo>
                  <a:lnTo>
                    <a:pt x="1756116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756116" cy="2973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4405" y="3474584"/>
            <a:ext cx="11621655" cy="2655719"/>
          </a:xfrm>
          <a:custGeom>
            <a:avLst/>
            <a:gdLst/>
            <a:ahLst/>
            <a:cxnLst/>
            <a:rect r="r" b="b" t="t" l="l"/>
            <a:pathLst>
              <a:path h="2655719" w="11621655">
                <a:moveTo>
                  <a:pt x="0" y="0"/>
                </a:moveTo>
                <a:lnTo>
                  <a:pt x="11621655" y="0"/>
                </a:lnTo>
                <a:lnTo>
                  <a:pt x="11621655" y="2655718"/>
                </a:lnTo>
                <a:lnTo>
                  <a:pt x="0" y="26557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14" t="-10131" r="-7294" b="-10227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951976" y="7212829"/>
            <a:ext cx="6026397" cy="482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b="true" sz="34507" spc="-2760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07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1409" y="1066800"/>
            <a:ext cx="7539495" cy="1547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3"/>
              </a:lnSpc>
            </a:pPr>
            <a:r>
              <a:rPr lang="en-US" sz="3900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DATABASE DESIGN &amp; CRUD OPERATIONS</a:t>
            </a:r>
          </a:p>
          <a:p>
            <a:pPr algn="l">
              <a:lnSpc>
                <a:spcPts val="4074"/>
              </a:lnSpc>
            </a:pPr>
            <a:r>
              <a:rPr lang="en-US" sz="4200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Database Design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167619"/>
            <a:ext cx="7539495" cy="1137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spc="76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CRUD OPERATIONS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708004"/>
            <a:ext cx="3573197" cy="817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spc="11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Events: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61409" y="2896099"/>
            <a:ext cx="7815054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spc="9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The system uses three main models: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6407380" y="7372214"/>
            <a:ext cx="3573197" cy="1351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 spc="95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Create token through public join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 spc="95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Read/list tokens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 spc="95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Update token status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7372214"/>
            <a:ext cx="3573197" cy="1351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 spc="95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Create event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 spc="95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Read events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 spc="95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Update event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 spc="95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Delete even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407380" y="6621009"/>
            <a:ext cx="3573197" cy="41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 spc="11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Tokens: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623977" y="9009879"/>
            <a:ext cx="3573197" cy="685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spc="95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Token Status</a:t>
            </a:r>
          </a:p>
          <a:p>
            <a:pPr algn="l">
              <a:lnSpc>
                <a:spcPts val="2660"/>
              </a:lnSpc>
            </a:pPr>
            <a:r>
              <a:rPr lang="en-US" sz="1900" spc="95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waiting → done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410460">
            <a:off x="1935723" y="-5126712"/>
            <a:ext cx="11976399" cy="7170869"/>
          </a:xfrm>
          <a:custGeom>
            <a:avLst/>
            <a:gdLst/>
            <a:ahLst/>
            <a:cxnLst/>
            <a:rect r="r" b="b" t="t" l="l"/>
            <a:pathLst>
              <a:path h="7170869" w="11976399">
                <a:moveTo>
                  <a:pt x="0" y="0"/>
                </a:moveTo>
                <a:lnTo>
                  <a:pt x="11976399" y="0"/>
                </a:lnTo>
                <a:lnTo>
                  <a:pt x="11976399" y="7170868"/>
                </a:lnTo>
                <a:lnTo>
                  <a:pt x="0" y="71708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664408" y="-882202"/>
            <a:ext cx="7273548" cy="482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b="true" sz="34507" spc="-2760">
                <a:solidFill>
                  <a:srgbClr val="164B82">
                    <a:alpha val="28627"/>
                  </a:srgbClr>
                </a:solidFill>
                <a:latin typeface="Telegraf Bold"/>
                <a:ea typeface="Telegraf Bold"/>
                <a:cs typeface="Telegraf Bold"/>
                <a:sym typeface="Telegraf Bold"/>
              </a:rPr>
              <a:t>08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1028700"/>
            <a:ext cx="5473709" cy="2431846"/>
            <a:chOff x="0" y="0"/>
            <a:chExt cx="1441635" cy="64048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41635" cy="640486"/>
            </a:xfrm>
            <a:custGeom>
              <a:avLst/>
              <a:gdLst/>
              <a:ahLst/>
              <a:cxnLst/>
              <a:rect r="r" b="b" t="t" l="l"/>
              <a:pathLst>
                <a:path h="640486" w="1441635">
                  <a:moveTo>
                    <a:pt x="45260" y="0"/>
                  </a:moveTo>
                  <a:lnTo>
                    <a:pt x="1396375" y="0"/>
                  </a:lnTo>
                  <a:cubicBezTo>
                    <a:pt x="1421372" y="0"/>
                    <a:pt x="1441635" y="20264"/>
                    <a:pt x="1441635" y="45260"/>
                  </a:cubicBezTo>
                  <a:lnTo>
                    <a:pt x="1441635" y="595226"/>
                  </a:lnTo>
                  <a:cubicBezTo>
                    <a:pt x="1441635" y="620223"/>
                    <a:pt x="1421372" y="640486"/>
                    <a:pt x="1396375" y="640486"/>
                  </a:cubicBezTo>
                  <a:lnTo>
                    <a:pt x="45260" y="640486"/>
                  </a:lnTo>
                  <a:cubicBezTo>
                    <a:pt x="20264" y="640486"/>
                    <a:pt x="0" y="620223"/>
                    <a:pt x="0" y="595226"/>
                  </a:cubicBezTo>
                  <a:lnTo>
                    <a:pt x="0" y="45260"/>
                  </a:lnTo>
                  <a:cubicBezTo>
                    <a:pt x="0" y="20264"/>
                    <a:pt x="20264" y="0"/>
                    <a:pt x="4526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441635" cy="697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6286752"/>
            <a:ext cx="5473709" cy="2431846"/>
            <a:chOff x="0" y="0"/>
            <a:chExt cx="1441635" cy="64048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41635" cy="640486"/>
            </a:xfrm>
            <a:custGeom>
              <a:avLst/>
              <a:gdLst/>
              <a:ahLst/>
              <a:cxnLst/>
              <a:rect r="r" b="b" t="t" l="l"/>
              <a:pathLst>
                <a:path h="640486" w="1441635">
                  <a:moveTo>
                    <a:pt x="45260" y="0"/>
                  </a:moveTo>
                  <a:lnTo>
                    <a:pt x="1396375" y="0"/>
                  </a:lnTo>
                  <a:cubicBezTo>
                    <a:pt x="1421372" y="0"/>
                    <a:pt x="1441635" y="20264"/>
                    <a:pt x="1441635" y="45260"/>
                  </a:cubicBezTo>
                  <a:lnTo>
                    <a:pt x="1441635" y="595226"/>
                  </a:lnTo>
                  <a:cubicBezTo>
                    <a:pt x="1441635" y="620223"/>
                    <a:pt x="1421372" y="640486"/>
                    <a:pt x="1396375" y="640486"/>
                  </a:cubicBezTo>
                  <a:lnTo>
                    <a:pt x="45260" y="640486"/>
                  </a:lnTo>
                  <a:cubicBezTo>
                    <a:pt x="20264" y="640486"/>
                    <a:pt x="0" y="620223"/>
                    <a:pt x="0" y="595226"/>
                  </a:cubicBezTo>
                  <a:lnTo>
                    <a:pt x="0" y="45260"/>
                  </a:lnTo>
                  <a:cubicBezTo>
                    <a:pt x="0" y="20264"/>
                    <a:pt x="20264" y="0"/>
                    <a:pt x="4526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441635" cy="697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785591" y="1028700"/>
            <a:ext cx="5473709" cy="2431846"/>
            <a:chOff x="0" y="0"/>
            <a:chExt cx="1441635" cy="64048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41635" cy="640486"/>
            </a:xfrm>
            <a:custGeom>
              <a:avLst/>
              <a:gdLst/>
              <a:ahLst/>
              <a:cxnLst/>
              <a:rect r="r" b="b" t="t" l="l"/>
              <a:pathLst>
                <a:path h="640486" w="1441635">
                  <a:moveTo>
                    <a:pt x="45260" y="0"/>
                  </a:moveTo>
                  <a:lnTo>
                    <a:pt x="1396375" y="0"/>
                  </a:lnTo>
                  <a:cubicBezTo>
                    <a:pt x="1421372" y="0"/>
                    <a:pt x="1441635" y="20264"/>
                    <a:pt x="1441635" y="45260"/>
                  </a:cubicBezTo>
                  <a:lnTo>
                    <a:pt x="1441635" y="595226"/>
                  </a:lnTo>
                  <a:cubicBezTo>
                    <a:pt x="1441635" y="620223"/>
                    <a:pt x="1421372" y="640486"/>
                    <a:pt x="1396375" y="640486"/>
                  </a:cubicBezTo>
                  <a:lnTo>
                    <a:pt x="45260" y="640486"/>
                  </a:lnTo>
                  <a:cubicBezTo>
                    <a:pt x="20264" y="640486"/>
                    <a:pt x="0" y="620223"/>
                    <a:pt x="0" y="595226"/>
                  </a:cubicBezTo>
                  <a:lnTo>
                    <a:pt x="0" y="45260"/>
                  </a:lnTo>
                  <a:cubicBezTo>
                    <a:pt x="0" y="20264"/>
                    <a:pt x="20264" y="0"/>
                    <a:pt x="4526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441635" cy="697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785591" y="3655775"/>
            <a:ext cx="5473709" cy="2431846"/>
            <a:chOff x="0" y="0"/>
            <a:chExt cx="1441635" cy="64048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41635" cy="640486"/>
            </a:xfrm>
            <a:custGeom>
              <a:avLst/>
              <a:gdLst/>
              <a:ahLst/>
              <a:cxnLst/>
              <a:rect r="r" b="b" t="t" l="l"/>
              <a:pathLst>
                <a:path h="640486" w="1441635">
                  <a:moveTo>
                    <a:pt x="45260" y="0"/>
                  </a:moveTo>
                  <a:lnTo>
                    <a:pt x="1396375" y="0"/>
                  </a:lnTo>
                  <a:cubicBezTo>
                    <a:pt x="1421372" y="0"/>
                    <a:pt x="1441635" y="20264"/>
                    <a:pt x="1441635" y="45260"/>
                  </a:cubicBezTo>
                  <a:lnTo>
                    <a:pt x="1441635" y="595226"/>
                  </a:lnTo>
                  <a:cubicBezTo>
                    <a:pt x="1441635" y="620223"/>
                    <a:pt x="1421372" y="640486"/>
                    <a:pt x="1396375" y="640486"/>
                  </a:cubicBezTo>
                  <a:lnTo>
                    <a:pt x="45260" y="640486"/>
                  </a:lnTo>
                  <a:cubicBezTo>
                    <a:pt x="20264" y="640486"/>
                    <a:pt x="0" y="620223"/>
                    <a:pt x="0" y="595226"/>
                  </a:cubicBezTo>
                  <a:lnTo>
                    <a:pt x="0" y="45260"/>
                  </a:lnTo>
                  <a:cubicBezTo>
                    <a:pt x="0" y="20264"/>
                    <a:pt x="20264" y="0"/>
                    <a:pt x="4526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441635" cy="697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785591" y="6286752"/>
            <a:ext cx="5473709" cy="2431846"/>
            <a:chOff x="0" y="0"/>
            <a:chExt cx="1441635" cy="64048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41635" cy="640486"/>
            </a:xfrm>
            <a:custGeom>
              <a:avLst/>
              <a:gdLst/>
              <a:ahLst/>
              <a:cxnLst/>
              <a:rect r="r" b="b" t="t" l="l"/>
              <a:pathLst>
                <a:path h="640486" w="1441635">
                  <a:moveTo>
                    <a:pt x="45260" y="0"/>
                  </a:moveTo>
                  <a:lnTo>
                    <a:pt x="1396375" y="0"/>
                  </a:lnTo>
                  <a:cubicBezTo>
                    <a:pt x="1421372" y="0"/>
                    <a:pt x="1441635" y="20264"/>
                    <a:pt x="1441635" y="45260"/>
                  </a:cubicBezTo>
                  <a:lnTo>
                    <a:pt x="1441635" y="595226"/>
                  </a:lnTo>
                  <a:cubicBezTo>
                    <a:pt x="1441635" y="620223"/>
                    <a:pt x="1421372" y="640486"/>
                    <a:pt x="1396375" y="640486"/>
                  </a:cubicBezTo>
                  <a:lnTo>
                    <a:pt x="45260" y="640486"/>
                  </a:lnTo>
                  <a:cubicBezTo>
                    <a:pt x="20264" y="640486"/>
                    <a:pt x="0" y="620223"/>
                    <a:pt x="0" y="595226"/>
                  </a:cubicBezTo>
                  <a:lnTo>
                    <a:pt x="0" y="45260"/>
                  </a:lnTo>
                  <a:cubicBezTo>
                    <a:pt x="0" y="20264"/>
                    <a:pt x="20264" y="0"/>
                    <a:pt x="4526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441635" cy="697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448421" y="1520467"/>
            <a:ext cx="2871547" cy="423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0"/>
              </a:lnSpc>
            </a:pPr>
            <a:r>
              <a:rPr lang="en-US" b="true" sz="3082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MEMBER 1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749162" y="3945293"/>
            <a:ext cx="5009307" cy="1417523"/>
            <a:chOff x="0" y="0"/>
            <a:chExt cx="6679077" cy="1890030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47625"/>
              <a:ext cx="6679077" cy="15454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51"/>
                </a:lnSpc>
              </a:pPr>
              <a:r>
                <a:rPr lang="en-US" b="true" sz="4383">
                  <a:solidFill>
                    <a:srgbClr val="343434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INDIVIDUAL CONTRIBUTIONS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1550804"/>
              <a:ext cx="6679077" cy="3392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8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774481" y="2168423"/>
            <a:ext cx="3587842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spc="105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React routing, Login &amp; Registration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914567" y="4866813"/>
            <a:ext cx="3587842" cy="1388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40"/>
              </a:lnSpc>
              <a:spcBef>
                <a:spcPct val="0"/>
              </a:spcBef>
            </a:pPr>
            <a:r>
              <a:rPr lang="en-US" sz="1600" spc="80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id eiusmod ex adipisicing reprehenderit eiusmod veniam velit deserunt nisi eu anim non qui esse mollit et nisi deserunt anim consequat</a:t>
            </a:r>
          </a:p>
        </p:txBody>
      </p:sp>
      <p:sp>
        <p:nvSpPr>
          <p:cNvPr name="Freeform 25" id="25"/>
          <p:cNvSpPr/>
          <p:nvPr/>
        </p:nvSpPr>
        <p:spPr>
          <a:xfrm>
            <a:off x="6502409" y="2244623"/>
            <a:ext cx="5283181" cy="1455558"/>
          </a:xfrm>
          <a:custGeom>
            <a:avLst/>
            <a:gdLst/>
            <a:ahLst/>
            <a:cxnLst/>
            <a:rect r="r" b="b" t="t" l="l"/>
            <a:pathLst>
              <a:path h="1455558" w="5283181">
                <a:moveTo>
                  <a:pt x="0" y="0"/>
                </a:moveTo>
                <a:lnTo>
                  <a:pt x="719602" y="0"/>
                </a:lnTo>
                <a:cubicBezTo>
                  <a:pt x="780231" y="0"/>
                  <a:pt x="838376" y="24085"/>
                  <a:pt x="881247" y="66956"/>
                </a:cubicBezTo>
                <a:cubicBezTo>
                  <a:pt x="924118" y="109827"/>
                  <a:pt x="948202" y="167972"/>
                  <a:pt x="948202" y="228600"/>
                </a:cubicBezTo>
                <a:lnTo>
                  <a:pt x="948202" y="1226958"/>
                </a:lnTo>
                <a:cubicBezTo>
                  <a:pt x="948202" y="1287587"/>
                  <a:pt x="972287" y="1345732"/>
                  <a:pt x="1015158" y="1388603"/>
                </a:cubicBezTo>
                <a:cubicBezTo>
                  <a:pt x="1058028" y="1431474"/>
                  <a:pt x="1116173" y="1455558"/>
                  <a:pt x="1176802" y="1455558"/>
                </a:cubicBezTo>
                <a:lnTo>
                  <a:pt x="3910125" y="1455558"/>
                </a:lnTo>
                <a:cubicBezTo>
                  <a:pt x="4036377" y="1455558"/>
                  <a:pt x="4138725" y="1353210"/>
                  <a:pt x="4138725" y="1226958"/>
                </a:cubicBezTo>
                <a:lnTo>
                  <a:pt x="4138725" y="228600"/>
                </a:lnTo>
                <a:cubicBezTo>
                  <a:pt x="4138725" y="102348"/>
                  <a:pt x="4241073" y="0"/>
                  <a:pt x="4367325" y="0"/>
                </a:cubicBezTo>
                <a:lnTo>
                  <a:pt x="5283182" y="0"/>
                </a:lnTo>
              </a:path>
            </a:pathLst>
          </a:custGeom>
          <a:ln cap="flat" w="19050">
            <a:solidFill>
              <a:srgbClr val="164B82"/>
            </a:solidFill>
            <a:prstDash val="sysDash"/>
            <a:headEnd type="oval" len="lg" w="lg"/>
            <a:tailEnd type="oval" len="lg" w="lg"/>
          </a:ln>
        </p:spPr>
      </p:sp>
      <p:sp>
        <p:nvSpPr>
          <p:cNvPr name="Freeform 26" id="26"/>
          <p:cNvSpPr/>
          <p:nvPr/>
        </p:nvSpPr>
        <p:spPr>
          <a:xfrm>
            <a:off x="6502409" y="6114288"/>
            <a:ext cx="5098453" cy="1388387"/>
          </a:xfrm>
          <a:custGeom>
            <a:avLst/>
            <a:gdLst/>
            <a:ahLst/>
            <a:cxnLst/>
            <a:rect r="r" b="b" t="t" l="l"/>
            <a:pathLst>
              <a:path h="1388387" w="5098453">
                <a:moveTo>
                  <a:pt x="0" y="1381809"/>
                </a:moveTo>
                <a:lnTo>
                  <a:pt x="719602" y="1381809"/>
                </a:lnTo>
                <a:cubicBezTo>
                  <a:pt x="845854" y="1381809"/>
                  <a:pt x="948202" y="1279461"/>
                  <a:pt x="948202" y="1153209"/>
                </a:cubicBezTo>
                <a:lnTo>
                  <a:pt x="948202" y="228600"/>
                </a:lnTo>
                <a:cubicBezTo>
                  <a:pt x="948202" y="167972"/>
                  <a:pt x="972287" y="109826"/>
                  <a:pt x="1015158" y="66955"/>
                </a:cubicBezTo>
                <a:cubicBezTo>
                  <a:pt x="1058028" y="24085"/>
                  <a:pt x="1116173" y="0"/>
                  <a:pt x="1176802" y="0"/>
                </a:cubicBezTo>
                <a:lnTo>
                  <a:pt x="3910125" y="0"/>
                </a:lnTo>
                <a:cubicBezTo>
                  <a:pt x="4036377" y="0"/>
                  <a:pt x="4138725" y="102348"/>
                  <a:pt x="4138725" y="228600"/>
                </a:cubicBezTo>
                <a:lnTo>
                  <a:pt x="4138725" y="1159787"/>
                </a:lnTo>
                <a:cubicBezTo>
                  <a:pt x="4138725" y="1220416"/>
                  <a:pt x="4162810" y="1278562"/>
                  <a:pt x="4205681" y="1321432"/>
                </a:cubicBezTo>
                <a:cubicBezTo>
                  <a:pt x="4248551" y="1364303"/>
                  <a:pt x="4306696" y="1388387"/>
                  <a:pt x="4367325" y="1388387"/>
                </a:cubicBezTo>
                <a:lnTo>
                  <a:pt x="5098453" y="1388387"/>
                </a:lnTo>
              </a:path>
            </a:pathLst>
          </a:custGeom>
          <a:ln cap="flat" w="19050">
            <a:solidFill>
              <a:srgbClr val="164B82"/>
            </a:solidFill>
            <a:prstDash val="sysDash"/>
            <a:headEnd type="oval" len="lg" w="lg"/>
            <a:tailEnd type="oval" len="lg" w="lg"/>
          </a:ln>
        </p:spPr>
      </p:sp>
      <p:sp>
        <p:nvSpPr>
          <p:cNvPr name="AutoShape 27" id="27"/>
          <p:cNvSpPr/>
          <p:nvPr/>
        </p:nvSpPr>
        <p:spPr>
          <a:xfrm>
            <a:off x="6502409" y="4871699"/>
            <a:ext cx="446710" cy="0"/>
          </a:xfrm>
          <a:prstGeom prst="line">
            <a:avLst/>
          </a:prstGeom>
          <a:ln cap="flat" w="19050">
            <a:solidFill>
              <a:srgbClr val="164B82"/>
            </a:solidFill>
            <a:prstDash val="sysDash"/>
            <a:headEnd type="oval" len="lg" w="lg"/>
            <a:tailEnd type="oval" len="lg" w="lg"/>
          </a:ln>
        </p:spPr>
      </p:sp>
      <p:sp>
        <p:nvSpPr>
          <p:cNvPr name="AutoShape 28" id="28"/>
          <p:cNvSpPr/>
          <p:nvPr/>
        </p:nvSpPr>
        <p:spPr>
          <a:xfrm flipV="true">
            <a:off x="11338881" y="4871699"/>
            <a:ext cx="556730" cy="0"/>
          </a:xfrm>
          <a:prstGeom prst="line">
            <a:avLst/>
          </a:prstGeom>
          <a:ln cap="flat" w="19050">
            <a:solidFill>
              <a:srgbClr val="164B82"/>
            </a:solidFill>
            <a:prstDash val="sysDash"/>
            <a:headEnd type="oval" len="lg" w="lg"/>
            <a:tailEnd type="oval" len="lg" w="lg"/>
          </a:ln>
        </p:spPr>
      </p:sp>
      <p:grpSp>
        <p:nvGrpSpPr>
          <p:cNvPr name="Group 29" id="29"/>
          <p:cNvGrpSpPr/>
          <p:nvPr/>
        </p:nvGrpSpPr>
        <p:grpSpPr>
          <a:xfrm rot="0">
            <a:off x="1000125" y="3655775"/>
            <a:ext cx="5473709" cy="2431846"/>
            <a:chOff x="0" y="0"/>
            <a:chExt cx="1441635" cy="64048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41635" cy="640486"/>
            </a:xfrm>
            <a:custGeom>
              <a:avLst/>
              <a:gdLst/>
              <a:ahLst/>
              <a:cxnLst/>
              <a:rect r="r" b="b" t="t" l="l"/>
              <a:pathLst>
                <a:path h="640486" w="1441635">
                  <a:moveTo>
                    <a:pt x="45260" y="0"/>
                  </a:moveTo>
                  <a:lnTo>
                    <a:pt x="1396375" y="0"/>
                  </a:lnTo>
                  <a:cubicBezTo>
                    <a:pt x="1421372" y="0"/>
                    <a:pt x="1441635" y="20264"/>
                    <a:pt x="1441635" y="45260"/>
                  </a:cubicBezTo>
                  <a:lnTo>
                    <a:pt x="1441635" y="595226"/>
                  </a:lnTo>
                  <a:cubicBezTo>
                    <a:pt x="1441635" y="620223"/>
                    <a:pt x="1421372" y="640486"/>
                    <a:pt x="1396375" y="640486"/>
                  </a:cubicBezTo>
                  <a:lnTo>
                    <a:pt x="45260" y="640486"/>
                  </a:lnTo>
                  <a:cubicBezTo>
                    <a:pt x="20264" y="640486"/>
                    <a:pt x="0" y="620223"/>
                    <a:pt x="0" y="595226"/>
                  </a:cubicBezTo>
                  <a:lnTo>
                    <a:pt x="0" y="45260"/>
                  </a:lnTo>
                  <a:cubicBezTo>
                    <a:pt x="0" y="20264"/>
                    <a:pt x="20264" y="0"/>
                    <a:pt x="4526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1441635" cy="697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448421" y="3928008"/>
            <a:ext cx="2871547" cy="423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0"/>
              </a:lnSpc>
            </a:pPr>
            <a:r>
              <a:rPr lang="en-US" b="true" sz="3082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MEMBER  3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48421" y="6426373"/>
            <a:ext cx="2871547" cy="423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0"/>
              </a:lnSpc>
            </a:pPr>
            <a:r>
              <a:rPr lang="en-US" b="true" sz="3082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MEMBER 5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235684" y="1355333"/>
            <a:ext cx="2871547" cy="423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0"/>
              </a:lnSpc>
            </a:pPr>
            <a:r>
              <a:rPr lang="en-US" b="true" sz="3082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MEMBER 2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235684" y="3840093"/>
            <a:ext cx="2871547" cy="423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0"/>
              </a:lnSpc>
            </a:pPr>
            <a:r>
              <a:rPr lang="en-US" b="true" sz="3082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MEMBER 4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235684" y="6551836"/>
            <a:ext cx="2871547" cy="423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0"/>
              </a:lnSpc>
            </a:pPr>
            <a:r>
              <a:rPr lang="en-US" b="true" sz="3082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MEMBER 6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774481" y="4450694"/>
            <a:ext cx="3587842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spc="105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Attendee Join Flow &amp; Public Token API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598071" y="6945037"/>
            <a:ext cx="3587842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spc="105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Event Backend &amp; Database Operations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519259" y="1867681"/>
            <a:ext cx="3587842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spc="105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Dashboard, Event Management &amp; QR Code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519259" y="4530207"/>
            <a:ext cx="3587842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spc="105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JWT Authentication &amp; Security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519259" y="6875238"/>
            <a:ext cx="3587842" cy="1137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spc="105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Token Backend, Atomic Token Allocation &amp; Server Setup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58567">
            <a:off x="10899557" y="-2048730"/>
            <a:ext cx="10441422" cy="4424552"/>
          </a:xfrm>
          <a:custGeom>
            <a:avLst/>
            <a:gdLst/>
            <a:ahLst/>
            <a:cxnLst/>
            <a:rect r="r" b="b" t="t" l="l"/>
            <a:pathLst>
              <a:path h="4424552" w="10441422">
                <a:moveTo>
                  <a:pt x="10441422" y="0"/>
                </a:moveTo>
                <a:lnTo>
                  <a:pt x="0" y="0"/>
                </a:lnTo>
                <a:lnTo>
                  <a:pt x="0" y="4424552"/>
                </a:lnTo>
                <a:lnTo>
                  <a:pt x="10441422" y="4424552"/>
                </a:lnTo>
                <a:lnTo>
                  <a:pt x="10441422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125778">
            <a:off x="9642048" y="7442125"/>
            <a:ext cx="7735476" cy="4631616"/>
          </a:xfrm>
          <a:custGeom>
            <a:avLst/>
            <a:gdLst/>
            <a:ahLst/>
            <a:cxnLst/>
            <a:rect r="r" b="b" t="t" l="l"/>
            <a:pathLst>
              <a:path h="4631616" w="7735476">
                <a:moveTo>
                  <a:pt x="0" y="0"/>
                </a:moveTo>
                <a:lnTo>
                  <a:pt x="7735476" y="0"/>
                </a:lnTo>
                <a:lnTo>
                  <a:pt x="7735476" y="4631616"/>
                </a:lnTo>
                <a:lnTo>
                  <a:pt x="0" y="4631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68477" y="-348153"/>
            <a:ext cx="8500415" cy="5587359"/>
            <a:chOff x="0" y="0"/>
            <a:chExt cx="2238793" cy="14715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8793" cy="1471568"/>
            </a:xfrm>
            <a:custGeom>
              <a:avLst/>
              <a:gdLst/>
              <a:ahLst/>
              <a:cxnLst/>
              <a:rect r="r" b="b" t="t" l="l"/>
              <a:pathLst>
                <a:path h="1471568" w="2238793">
                  <a:moveTo>
                    <a:pt x="0" y="0"/>
                  </a:moveTo>
                  <a:lnTo>
                    <a:pt x="2238793" y="0"/>
                  </a:lnTo>
                  <a:lnTo>
                    <a:pt x="2238793" y="1471568"/>
                  </a:lnTo>
                  <a:lnTo>
                    <a:pt x="0" y="1471568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238793" cy="1528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-1416136" y="2083271"/>
            <a:ext cx="7273548" cy="482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b="true" sz="34507" spc="-2760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09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186696"/>
            <a:ext cx="9445915" cy="2466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59"/>
              </a:lnSpc>
            </a:pPr>
            <a:r>
              <a:rPr lang="en-US" sz="9339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TESTING &amp; RESULTS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538739"/>
            <a:ext cx="9657424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spc="10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FUTURE PLANS AND ASPIRATIONS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007962" y="2073224"/>
            <a:ext cx="6615410" cy="3685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 spc="95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Organizer Registration Account created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 spc="95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Organizer Login JWT generated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 spc="95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Create Event Event stored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 spc="95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Generate QR Join URL generated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 spc="95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Scan QR Join page opened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 spc="95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Attendee Join Unique token generated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 spc="95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Multiple simultaneous joins Unique token numbers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 spc="95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View Tokens Queue displayed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 spc="95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Mark Token Done Status updated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 spc="95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Health Check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 spc="95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GET /api/health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58567">
            <a:off x="10899557" y="-2048730"/>
            <a:ext cx="10441422" cy="4424552"/>
          </a:xfrm>
          <a:custGeom>
            <a:avLst/>
            <a:gdLst/>
            <a:ahLst/>
            <a:cxnLst/>
            <a:rect r="r" b="b" t="t" l="l"/>
            <a:pathLst>
              <a:path h="4424552" w="10441422">
                <a:moveTo>
                  <a:pt x="10441422" y="0"/>
                </a:moveTo>
                <a:lnTo>
                  <a:pt x="0" y="0"/>
                </a:lnTo>
                <a:lnTo>
                  <a:pt x="0" y="4424552"/>
                </a:lnTo>
                <a:lnTo>
                  <a:pt x="10441422" y="4424552"/>
                </a:lnTo>
                <a:lnTo>
                  <a:pt x="10441422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125778">
            <a:off x="9642048" y="7442125"/>
            <a:ext cx="7735476" cy="4631616"/>
          </a:xfrm>
          <a:custGeom>
            <a:avLst/>
            <a:gdLst/>
            <a:ahLst/>
            <a:cxnLst/>
            <a:rect r="r" b="b" t="t" l="l"/>
            <a:pathLst>
              <a:path h="4631616" w="7735476">
                <a:moveTo>
                  <a:pt x="0" y="0"/>
                </a:moveTo>
                <a:lnTo>
                  <a:pt x="7735476" y="0"/>
                </a:lnTo>
                <a:lnTo>
                  <a:pt x="7735476" y="4631616"/>
                </a:lnTo>
                <a:lnTo>
                  <a:pt x="0" y="4631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68477" y="-348153"/>
            <a:ext cx="8500415" cy="5587359"/>
            <a:chOff x="0" y="0"/>
            <a:chExt cx="2238793" cy="14715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8793" cy="1471568"/>
            </a:xfrm>
            <a:custGeom>
              <a:avLst/>
              <a:gdLst/>
              <a:ahLst/>
              <a:cxnLst/>
              <a:rect r="r" b="b" t="t" l="l"/>
              <a:pathLst>
                <a:path h="1471568" w="2238793">
                  <a:moveTo>
                    <a:pt x="0" y="0"/>
                  </a:moveTo>
                  <a:lnTo>
                    <a:pt x="2238793" y="0"/>
                  </a:lnTo>
                  <a:lnTo>
                    <a:pt x="2238793" y="1471568"/>
                  </a:lnTo>
                  <a:lnTo>
                    <a:pt x="0" y="1471568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238793" cy="1528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-1416136" y="2083271"/>
            <a:ext cx="7273548" cy="482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b="true" sz="34507" spc="-2760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10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148596"/>
            <a:ext cx="9445915" cy="2493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6"/>
              </a:lnSpc>
            </a:pPr>
            <a:r>
              <a:rPr lang="en-US" sz="6439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CONCLUSION &amp; FUTURE SCOPE</a:t>
            </a:r>
          </a:p>
          <a:p>
            <a:pPr algn="l">
              <a:lnSpc>
                <a:spcPts val="6246"/>
              </a:lnSpc>
            </a:pPr>
            <a:r>
              <a:rPr lang="en-US" sz="6439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CONCLUSION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007962" y="2063699"/>
            <a:ext cx="9280038" cy="7452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 spc="105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Co</a:t>
            </a:r>
            <a:r>
              <a:rPr lang="en-US" b="true" sz="2100" spc="105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nclusion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105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Developed a digital queue management system using QR codes.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105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Organizers can create and manage events.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105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Attendees can join queues without creating an account.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105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JWT provides secure organizer authentication.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105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bcryptjs protects user passwords.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105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MongoDB stores users, events and tokens.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105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Atomic $inc ensures unique token allocation during concurrent joins.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105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Fallback storage makes the system suitable for demonstrations.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 spc="105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Future Scope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105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Real-time queue updates using WebSockets / SSE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105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Live waiting-time and queue-position display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105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Push/SMS notifications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105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Pagination and search for large queues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105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Role-based access control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105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Analytics and queue statistics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105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Rate limiting and stronger authentication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105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Password reset and refresh-token support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28310" y="5143500"/>
            <a:ext cx="8431381" cy="6106672"/>
            <a:chOff x="0" y="0"/>
            <a:chExt cx="2220611" cy="16083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20611" cy="1608342"/>
            </a:xfrm>
            <a:custGeom>
              <a:avLst/>
              <a:gdLst/>
              <a:ahLst/>
              <a:cxnLst/>
              <a:rect r="r" b="b" t="t" l="l"/>
              <a:pathLst>
                <a:path h="1608342" w="2220611">
                  <a:moveTo>
                    <a:pt x="0" y="0"/>
                  </a:moveTo>
                  <a:lnTo>
                    <a:pt x="2220611" y="0"/>
                  </a:lnTo>
                  <a:lnTo>
                    <a:pt x="2220611" y="1608342"/>
                  </a:lnTo>
                  <a:lnTo>
                    <a:pt x="0" y="1608342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220611" cy="16654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760705">
            <a:off x="1423346" y="-1948290"/>
            <a:ext cx="15441309" cy="6543255"/>
          </a:xfrm>
          <a:custGeom>
            <a:avLst/>
            <a:gdLst/>
            <a:ahLst/>
            <a:cxnLst/>
            <a:rect r="r" b="b" t="t" l="l"/>
            <a:pathLst>
              <a:path h="6543255" w="15441309">
                <a:moveTo>
                  <a:pt x="0" y="0"/>
                </a:moveTo>
                <a:lnTo>
                  <a:pt x="15441308" y="0"/>
                </a:lnTo>
                <a:lnTo>
                  <a:pt x="15441308" y="6543255"/>
                </a:lnTo>
                <a:lnTo>
                  <a:pt x="0" y="65432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421043" y="3816797"/>
            <a:ext cx="9445915" cy="1311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59"/>
              </a:lnSpc>
            </a:pPr>
            <a:r>
              <a:rPr lang="en-US" b="true" sz="9339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DAHWB_Uo0yo</dc:identifier>
  <dcterms:modified xsi:type="dcterms:W3CDTF">2011-08-01T06:04:30Z</dcterms:modified>
  <cp:revision>1</cp:revision>
  <dc:title>Blue and White Gradient Modern Project Presentation</dc:title>
</cp:coreProperties>
</file>